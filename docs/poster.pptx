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1" autoAdjust="0"/>
    <p:restoredTop sz="94652" autoAdjust="0"/>
  </p:normalViewPr>
  <p:slideViewPr>
    <p:cSldViewPr snapToGrid="0">
      <p:cViewPr varScale="1">
        <p:scale>
          <a:sx n="115" d="100"/>
          <a:sy n="115" d="100"/>
        </p:scale>
        <p:origin x="230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09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E3825-48F2-4F67-BAC3-9ECB935A8939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3FD73-A47B-471F-8991-B89AF73D8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207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3FD73-A47B-471F-8991-B89AF73D887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72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3FD73-A47B-471F-8991-B89AF73D887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07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813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15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800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088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5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283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325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217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6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13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A739D-581B-4557-AFC4-246FF196671D}" type="datetimeFigureOut">
              <a:rPr lang="ko-KR" altLang="en-US" smtClean="0"/>
              <a:t>2025-05-28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8DB11-625F-47C1-A869-CE50569FCF1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372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570AA6-82B5-4A35-712B-A0D25F5655A1}"/>
              </a:ext>
            </a:extLst>
          </p:cNvPr>
          <p:cNvSpPr/>
          <p:nvPr/>
        </p:nvSpPr>
        <p:spPr>
          <a:xfrm>
            <a:off x="5743718" y="675350"/>
            <a:ext cx="6890669" cy="8820299"/>
          </a:xfrm>
          <a:prstGeom prst="roundRect">
            <a:avLst>
              <a:gd name="adj" fmla="val 47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38886D0-DFC0-088B-F374-2E6848806917}"/>
              </a:ext>
            </a:extLst>
          </p:cNvPr>
          <p:cNvSpPr/>
          <p:nvPr/>
        </p:nvSpPr>
        <p:spPr>
          <a:xfrm>
            <a:off x="143563" y="675351"/>
            <a:ext cx="5451694" cy="8820299"/>
          </a:xfrm>
          <a:prstGeom prst="roundRect">
            <a:avLst>
              <a:gd name="adj" fmla="val 47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 descr="원, 라인, 도표, 시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5192AFD-C46A-6F67-4655-44D467755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4" y="6814150"/>
            <a:ext cx="2061363" cy="206136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F900327-4D5D-B582-B252-ED651BA2AE2F}"/>
              </a:ext>
            </a:extLst>
          </p:cNvPr>
          <p:cNvSpPr/>
          <p:nvPr/>
        </p:nvSpPr>
        <p:spPr>
          <a:xfrm>
            <a:off x="0" y="0"/>
            <a:ext cx="12801600" cy="5957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Label Propagation With Maximal Independent Set</a:t>
            </a:r>
            <a:endParaRPr lang="ko-KR" altLang="en-US" sz="2800" dirty="0"/>
          </a:p>
        </p:txBody>
      </p:sp>
      <p:pic>
        <p:nvPicPr>
          <p:cNvPr id="3" name="그림 2" descr="도표, 라인, 지도, 시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2BCEDA-F70F-96D4-3D46-128D13639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32" y="1051719"/>
            <a:ext cx="2595424" cy="2158554"/>
          </a:xfrm>
          <a:prstGeom prst="rect">
            <a:avLst/>
          </a:prstGeom>
        </p:spPr>
      </p:pic>
      <p:pic>
        <p:nvPicPr>
          <p:cNvPr id="7" name="그림 6" descr="라인, 도표, 시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5AA01A-E042-8E31-05B5-F9847DA05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471" y="1066233"/>
            <a:ext cx="2595424" cy="21585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437476-E221-834C-FF15-F6B2F0692D23}"/>
              </a:ext>
            </a:extLst>
          </p:cNvPr>
          <p:cNvSpPr txBox="1"/>
          <p:nvPr/>
        </p:nvSpPr>
        <p:spPr>
          <a:xfrm>
            <a:off x="150820" y="675351"/>
            <a:ext cx="4974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Background : Label Propagation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6CE86-D62E-40BA-C6F7-9D36ABF807A6}"/>
              </a:ext>
            </a:extLst>
          </p:cNvPr>
          <p:cNvSpPr txBox="1"/>
          <p:nvPr/>
        </p:nvSpPr>
        <p:spPr>
          <a:xfrm>
            <a:off x="5876656" y="1314015"/>
            <a:ext cx="64677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Maximal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</a:t>
            </a:r>
            <a:r>
              <a:rPr lang="ko-KR" altLang="en-US" sz="2000" b="1" dirty="0" err="1"/>
              <a:t>ndependent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</a:t>
            </a:r>
            <a:r>
              <a:rPr lang="ko-KR" altLang="en-US" sz="2000" b="1" dirty="0" err="1"/>
              <a:t>et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(MIS)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No adjacent nodes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No any additional nodes can be added</a:t>
            </a:r>
            <a:endParaRPr lang="ko-KR" altLang="en-US" dirty="0"/>
          </a:p>
        </p:txBody>
      </p:sp>
      <p:pic>
        <p:nvPicPr>
          <p:cNvPr id="14" name="그림 13" descr="스크린샷, 다채로움, 블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906E824-7FB4-CEBB-E994-3721179B6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683" y="2341913"/>
            <a:ext cx="4486925" cy="29538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21CF02-2AE7-12C9-29C9-6DEFAF8B3D95}"/>
              </a:ext>
            </a:extLst>
          </p:cNvPr>
          <p:cNvSpPr txBox="1"/>
          <p:nvPr/>
        </p:nvSpPr>
        <p:spPr>
          <a:xfrm>
            <a:off x="6188485" y="5194884"/>
            <a:ext cx="5679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https://en.wikipedia.org/wiki/Maximal_independent_set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BE2E1-74ED-A45E-98C3-4F33BD0B41EA}"/>
              </a:ext>
            </a:extLst>
          </p:cNvPr>
          <p:cNvSpPr txBox="1"/>
          <p:nvPr/>
        </p:nvSpPr>
        <p:spPr>
          <a:xfrm>
            <a:off x="225268" y="6439766"/>
            <a:ext cx="1743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Observation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CCD89-60C1-90C2-BFEC-85D1CE5D592A}"/>
              </a:ext>
            </a:extLst>
          </p:cNvPr>
          <p:cNvSpPr txBox="1"/>
          <p:nvPr/>
        </p:nvSpPr>
        <p:spPr>
          <a:xfrm>
            <a:off x="2847235" y="3277482"/>
            <a:ext cx="27480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Synchronous update</a:t>
            </a:r>
          </a:p>
          <a:p>
            <a:r>
              <a:rPr lang="en-US" altLang="ko-KR" dirty="0"/>
              <a:t>: Once all nodes decide on their next labels, the </a:t>
            </a:r>
            <a:r>
              <a:rPr lang="en-US" altLang="ko-KR" b="1" dirty="0"/>
              <a:t>node labels are updated simultaneously.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/>
              <a:t>Multiprocessing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7E61ED-7E97-3176-8DFE-BFD22E9F387A}"/>
              </a:ext>
            </a:extLst>
          </p:cNvPr>
          <p:cNvSpPr txBox="1"/>
          <p:nvPr/>
        </p:nvSpPr>
        <p:spPr>
          <a:xfrm>
            <a:off x="225269" y="3278506"/>
            <a:ext cx="26219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Asynchronous update</a:t>
            </a:r>
          </a:p>
          <a:p>
            <a:r>
              <a:rPr lang="en-US" altLang="ko-KR" dirty="0"/>
              <a:t>:  When a node determines the next label, it is </a:t>
            </a:r>
            <a:r>
              <a:rPr lang="en-US" altLang="ko-KR" b="1" dirty="0"/>
              <a:t>immediately applied and affects the next node update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B4A68C-5712-295E-3C0A-8376E2CB1C15}"/>
              </a:ext>
            </a:extLst>
          </p:cNvPr>
          <p:cNvSpPr txBox="1"/>
          <p:nvPr/>
        </p:nvSpPr>
        <p:spPr>
          <a:xfrm>
            <a:off x="159955" y="5132426"/>
            <a:ext cx="557007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Over-propagation problem:</a:t>
            </a:r>
            <a:endParaRPr lang="en-US" altLang="ko-KR" sz="2000" dirty="0"/>
          </a:p>
          <a:p>
            <a:r>
              <a:rPr lang="en-US" altLang="ko-KR" dirty="0"/>
              <a:t>propagates far beyond, and </a:t>
            </a:r>
            <a:r>
              <a:rPr lang="en-US" altLang="ko-KR" b="1" dirty="0"/>
              <a:t>form overly large clusters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decrease model prediction accuracy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/>
              <a:t>Unstable</a:t>
            </a:r>
            <a:r>
              <a:rPr lang="en-US" altLang="ko-KR" dirty="0"/>
              <a:t> (</a:t>
            </a:r>
            <a:r>
              <a:rPr lang="en-US" altLang="ko-KR" b="1" dirty="0"/>
              <a:t>Results may vary widely)</a:t>
            </a:r>
            <a:endParaRPr lang="en-US" altLang="ko-KR" dirty="0"/>
          </a:p>
        </p:txBody>
      </p:sp>
      <p:pic>
        <p:nvPicPr>
          <p:cNvPr id="27" name="그림 26" descr="원, 라인, 시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86CC368-EB1A-08CD-2CD1-82C355025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588" y="6429955"/>
            <a:ext cx="2061362" cy="20613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D7AF41-39CE-AE8E-C361-7A4A8D81635A}"/>
                  </a:ext>
                </a:extLst>
              </p:cNvPr>
              <p:cNvSpPr txBox="1"/>
              <p:nvPr/>
            </p:nvSpPr>
            <p:spPr>
              <a:xfrm>
                <a:off x="5768197" y="5578140"/>
                <a:ext cx="6957030" cy="3610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2000" b="1" dirty="0"/>
                  <a:t>Sync LPA with MIS Algorithm</a:t>
                </a:r>
              </a:p>
              <a:p>
                <a:pPr>
                  <a:buNone/>
                </a:pPr>
                <a:r>
                  <a:rPr lang="en-US" altLang="ko-KR" b="1" dirty="0"/>
                  <a:t>At each round:</a:t>
                </a:r>
                <a:endParaRPr lang="en-US" altLang="ko-KR" dirty="0"/>
              </a:p>
              <a:p>
                <a:pPr>
                  <a:buFont typeface="+mj-lt"/>
                  <a:buAutoNum type="arabicPeriod"/>
                </a:pPr>
                <a:r>
                  <a:rPr lang="en-US" altLang="ko-KR" dirty="0"/>
                  <a:t> Each node must update at least once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ko-KR" dirty="0"/>
                  <a:t> MIS (Maximal Independent Set) must include nodes that haven't been updated yet in this round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ko-KR" dirty="0"/>
                  <a:t> When all nodes are updated, start a new round</a:t>
                </a:r>
              </a:p>
              <a:p>
                <a:pPr>
                  <a:buFont typeface="+mj-lt"/>
                  <a:buAutoNum type="arabicPeriod"/>
                </a:pPr>
                <a:endParaRPr lang="en-US" altLang="ko-KR" dirty="0"/>
              </a:p>
              <a:p>
                <a:pPr>
                  <a:buNone/>
                </a:pPr>
                <a:r>
                  <a:rPr lang="en-US" altLang="ko-KR" b="1" dirty="0"/>
                  <a:t>Termination conditions:</a:t>
                </a:r>
                <a:endParaRPr lang="en-US" altLang="ko-KR" dirty="0"/>
              </a:p>
              <a:p>
                <a:pPr>
                  <a:buFont typeface="+mj-lt"/>
                  <a:buAutoNum type="arabicPeriod"/>
                </a:pPr>
                <a:r>
                  <a:rPr lang="en-US" altLang="ko-KR" b="1" dirty="0"/>
                  <a:t>Convergence</a:t>
                </a:r>
                <a:r>
                  <a:rPr lang="en-US" altLang="ko-KR" dirty="0"/>
                  <a:t>: No actual updates occur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altLang="ko-KR" b="1" dirty="0"/>
                  <a:t>Max iteration</a:t>
                </a:r>
                <a:r>
                  <a:rPr lang="en-US" altLang="ko-KR" dirty="0"/>
                  <a:t>: Predetermined hyperparameter limit</a:t>
                </a:r>
              </a:p>
              <a:p>
                <a:pPr>
                  <a:buFont typeface="+mj-lt"/>
                  <a:buAutoNum type="arabicPeriod"/>
                </a:pPr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2800" b="1" dirty="0"/>
                        <m:t>Time</m:t>
                      </m:r>
                      <m:r>
                        <m:rPr>
                          <m:nor/>
                        </m:rPr>
                        <a:rPr lang="ko-KR" altLang="en-US" sz="2800" b="1" dirty="0"/>
                        <m:t> 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Complexity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  : 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O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(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max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_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iteration</m:t>
                      </m:r>
                      <m:r>
                        <m:rPr>
                          <m:nor/>
                        </m:rPr>
                        <a:rPr lang="en-US" altLang="ko-KR" sz="2800" b="1" dirty="0"/>
                        <m:t> </m:t>
                      </m:r>
                      <m:r>
                        <a:rPr lang="en-US" altLang="ko-KR" sz="2800" b="1" i="1" dirty="0" smtClean="0">
                          <a:latin typeface="Cambria Math" panose="02040503050406030204" pitchFamily="18" charset="0"/>
                        </a:rPr>
                        <m:t>× </m:t>
                      </m:r>
                      <m:sSup>
                        <m:sSup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D7AF41-39CE-AE8E-C361-7A4A8D816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197" y="5578140"/>
                <a:ext cx="6957030" cy="3610732"/>
              </a:xfrm>
              <a:prstGeom prst="rect">
                <a:avLst/>
              </a:prstGeom>
              <a:blipFill>
                <a:blip r:embed="rId8"/>
                <a:stretch>
                  <a:fillRect l="-876" t="-8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EA1462ED-8F2C-67F3-EE7E-9F7BBCC3E8D5}"/>
              </a:ext>
            </a:extLst>
          </p:cNvPr>
          <p:cNvSpPr txBox="1"/>
          <p:nvPr/>
        </p:nvSpPr>
        <p:spPr>
          <a:xfrm>
            <a:off x="1536249" y="8572320"/>
            <a:ext cx="3815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Idea: </a:t>
            </a:r>
          </a:p>
          <a:p>
            <a:r>
              <a:rPr lang="en-US" altLang="ko-KR" b="1" dirty="0"/>
              <a:t>we should not update a node and its any adjacent node sequentially</a:t>
            </a:r>
            <a:endParaRPr lang="ko-KR" alt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E92034-9F75-6ACF-E276-AA22110F56E8}"/>
              </a:ext>
            </a:extLst>
          </p:cNvPr>
          <p:cNvSpPr txBox="1"/>
          <p:nvPr/>
        </p:nvSpPr>
        <p:spPr>
          <a:xfrm>
            <a:off x="5876656" y="765115"/>
            <a:ext cx="6467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Proposed Algorithm</a:t>
            </a:r>
            <a:endParaRPr lang="ko-KR" altLang="en-US" sz="2800" b="1" dirty="0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FF1199FA-34FF-EB7B-627D-49A374464DF9}"/>
              </a:ext>
            </a:extLst>
          </p:cNvPr>
          <p:cNvSpPr/>
          <p:nvPr/>
        </p:nvSpPr>
        <p:spPr>
          <a:xfrm rot="20453511">
            <a:off x="2318183" y="7562806"/>
            <a:ext cx="719828" cy="277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823F8-6409-5B49-78A6-138C187FD7B7}"/>
              </a:ext>
            </a:extLst>
          </p:cNvPr>
          <p:cNvSpPr txBox="1"/>
          <p:nvPr/>
        </p:nvSpPr>
        <p:spPr>
          <a:xfrm>
            <a:off x="679577" y="6756626"/>
            <a:ext cx="3815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Init state             </a:t>
            </a:r>
          </a:p>
          <a:p>
            <a:r>
              <a:rPr lang="en-US" altLang="ko-KR" b="1" dirty="0"/>
              <a:t>                                B-&gt;D-&gt;C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5F591-7D12-4EB2-DA14-4CFA16618CDF}"/>
              </a:ext>
            </a:extLst>
          </p:cNvPr>
          <p:cNvSpPr txBox="1"/>
          <p:nvPr/>
        </p:nvSpPr>
        <p:spPr>
          <a:xfrm>
            <a:off x="11010311" y="287468"/>
            <a:ext cx="23565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20211277 Hojun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</a:rPr>
              <a:t>Lee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35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CDF5245-5603-5111-E039-3E6796479B4B}"/>
              </a:ext>
            </a:extLst>
          </p:cNvPr>
          <p:cNvSpPr/>
          <p:nvPr/>
        </p:nvSpPr>
        <p:spPr>
          <a:xfrm>
            <a:off x="6143517" y="157317"/>
            <a:ext cx="6476069" cy="7052673"/>
          </a:xfrm>
          <a:prstGeom prst="roundRect">
            <a:avLst>
              <a:gd name="adj" fmla="val 47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812745E-7F4D-7621-CBFB-F7A00013B85B}"/>
              </a:ext>
            </a:extLst>
          </p:cNvPr>
          <p:cNvSpPr/>
          <p:nvPr/>
        </p:nvSpPr>
        <p:spPr>
          <a:xfrm>
            <a:off x="6143517" y="7374493"/>
            <a:ext cx="6476069" cy="2032571"/>
          </a:xfrm>
          <a:prstGeom prst="roundRect">
            <a:avLst>
              <a:gd name="adj" fmla="val 47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D01A13-F45A-25DA-D934-8935F4F2A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814" y="809486"/>
            <a:ext cx="3221616" cy="2572969"/>
          </a:xfrm>
          <a:prstGeom prst="rect">
            <a:avLst/>
          </a:prstGeom>
        </p:spPr>
      </p:pic>
      <p:pic>
        <p:nvPicPr>
          <p:cNvPr id="5" name="그림 4" descr="도표, 라인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9DF537-01DD-1501-773D-4C8A16BA9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204" y="814430"/>
            <a:ext cx="3221616" cy="2572968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4B32D07-F0BF-4695-68FD-9C6BF6BC0F7F}"/>
              </a:ext>
            </a:extLst>
          </p:cNvPr>
          <p:cNvSpPr/>
          <p:nvPr/>
        </p:nvSpPr>
        <p:spPr>
          <a:xfrm>
            <a:off x="111549" y="131974"/>
            <a:ext cx="5843826" cy="9280460"/>
          </a:xfrm>
          <a:prstGeom prst="roundRect">
            <a:avLst>
              <a:gd name="adj" fmla="val 47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지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9FFBAC-4495-A0B9-DC4F-F57F1147BF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282" y="4134094"/>
            <a:ext cx="3278890" cy="2618711"/>
          </a:xfrm>
          <a:prstGeom prst="rect">
            <a:avLst/>
          </a:prstGeom>
        </p:spPr>
      </p:pic>
      <p:pic>
        <p:nvPicPr>
          <p:cNvPr id="3" name="그림 2" descr="지도, 도표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46AE4F-F590-517C-BABE-B699DD1DC2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292" y="4144277"/>
            <a:ext cx="3266138" cy="2608528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1526A64-0123-B592-A659-4B97CA959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48999"/>
              </p:ext>
            </p:extLst>
          </p:nvPr>
        </p:nvGraphicFramePr>
        <p:xfrm>
          <a:off x="859944" y="3222423"/>
          <a:ext cx="434703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759">
                  <a:extLst>
                    <a:ext uri="{9D8B030D-6E8A-4147-A177-3AD203B41FA5}">
                      <a16:colId xmlns:a16="http://schemas.microsoft.com/office/drawing/2014/main" val="2213753631"/>
                    </a:ext>
                  </a:extLst>
                </a:gridCol>
                <a:gridCol w="1086759">
                  <a:extLst>
                    <a:ext uri="{9D8B030D-6E8A-4147-A177-3AD203B41FA5}">
                      <a16:colId xmlns:a16="http://schemas.microsoft.com/office/drawing/2014/main" val="2014049327"/>
                    </a:ext>
                  </a:extLst>
                </a:gridCol>
                <a:gridCol w="1086759">
                  <a:extLst>
                    <a:ext uri="{9D8B030D-6E8A-4147-A177-3AD203B41FA5}">
                      <a16:colId xmlns:a16="http://schemas.microsoft.com/office/drawing/2014/main" val="1250048612"/>
                    </a:ext>
                  </a:extLst>
                </a:gridCol>
                <a:gridCol w="1086759">
                  <a:extLst>
                    <a:ext uri="{9D8B030D-6E8A-4147-A177-3AD203B41FA5}">
                      <a16:colId xmlns:a16="http://schemas.microsoft.com/office/drawing/2014/main" val="3008272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Algorithm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Karate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Dolphin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Football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22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Async LPA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0.6064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0.0250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0.4769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755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Sync LPA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0.4854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0.0236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0.4778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5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Sync LPA</a:t>
                      </a:r>
                    </a:p>
                    <a:p>
                      <a:pPr algn="ctr" latinLnBrk="1"/>
                      <a:r>
                        <a:rPr lang="en-US" altLang="ko-KR" sz="1600" b="1" dirty="0"/>
                        <a:t>with MIS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0.6592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0.0354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0.4873</a:t>
                      </a:r>
                      <a:endParaRPr lang="ko-KR" alt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27313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FEB96FD-2179-E10B-FE2B-A1B3DC0BD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18200"/>
              </p:ext>
            </p:extLst>
          </p:nvPr>
        </p:nvGraphicFramePr>
        <p:xfrm>
          <a:off x="779632" y="7670375"/>
          <a:ext cx="450766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915">
                  <a:extLst>
                    <a:ext uri="{9D8B030D-6E8A-4147-A177-3AD203B41FA5}">
                      <a16:colId xmlns:a16="http://schemas.microsoft.com/office/drawing/2014/main" val="2213753631"/>
                    </a:ext>
                  </a:extLst>
                </a:gridCol>
                <a:gridCol w="1126915">
                  <a:extLst>
                    <a:ext uri="{9D8B030D-6E8A-4147-A177-3AD203B41FA5}">
                      <a16:colId xmlns:a16="http://schemas.microsoft.com/office/drawing/2014/main" val="2014049327"/>
                    </a:ext>
                  </a:extLst>
                </a:gridCol>
                <a:gridCol w="1126915">
                  <a:extLst>
                    <a:ext uri="{9D8B030D-6E8A-4147-A177-3AD203B41FA5}">
                      <a16:colId xmlns:a16="http://schemas.microsoft.com/office/drawing/2014/main" val="1250048612"/>
                    </a:ext>
                  </a:extLst>
                </a:gridCol>
                <a:gridCol w="1126915">
                  <a:extLst>
                    <a:ext uri="{9D8B030D-6E8A-4147-A177-3AD203B41FA5}">
                      <a16:colId xmlns:a16="http://schemas.microsoft.com/office/drawing/2014/main" val="3008272089"/>
                    </a:ext>
                  </a:extLst>
                </a:gridCol>
              </a:tblGrid>
              <a:tr h="2505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Algorithm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Karate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Dolphin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Football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222103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Async LPA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0.46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7..65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6.95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755903"/>
                  </a:ext>
                </a:extLst>
              </a:tr>
              <a:tr h="2122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Sync LPA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19.54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33.63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36.24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51472"/>
                  </a:ext>
                </a:extLst>
              </a:tr>
              <a:tr h="366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Sync LPA with MIS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8.78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47.60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64.74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273130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F63EE89-54F5-F98A-DA2F-AEA46D346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504732"/>
              </p:ext>
            </p:extLst>
          </p:nvPr>
        </p:nvGraphicFramePr>
        <p:xfrm>
          <a:off x="1312425" y="1283485"/>
          <a:ext cx="3442074" cy="1453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358">
                  <a:extLst>
                    <a:ext uri="{9D8B030D-6E8A-4147-A177-3AD203B41FA5}">
                      <a16:colId xmlns:a16="http://schemas.microsoft.com/office/drawing/2014/main" val="3509836231"/>
                    </a:ext>
                  </a:extLst>
                </a:gridCol>
                <a:gridCol w="1147358">
                  <a:extLst>
                    <a:ext uri="{9D8B030D-6E8A-4147-A177-3AD203B41FA5}">
                      <a16:colId xmlns:a16="http://schemas.microsoft.com/office/drawing/2014/main" val="3423707110"/>
                    </a:ext>
                  </a:extLst>
                </a:gridCol>
                <a:gridCol w="1147358">
                  <a:extLst>
                    <a:ext uri="{9D8B030D-6E8A-4147-A177-3AD203B41FA5}">
                      <a16:colId xmlns:a16="http://schemas.microsoft.com/office/drawing/2014/main" val="4179858864"/>
                    </a:ext>
                  </a:extLst>
                </a:gridCol>
              </a:tblGrid>
              <a:tr h="4472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Dataset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# of nodes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# of edges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060315"/>
                  </a:ext>
                </a:extLst>
              </a:tr>
              <a:tr h="258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Karate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78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242881"/>
                  </a:ext>
                </a:extLst>
              </a:tr>
              <a:tr h="258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Dolphin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159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745100"/>
                  </a:ext>
                </a:extLst>
              </a:tr>
              <a:tr h="258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Football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115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613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53992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48F0176-B38B-5C32-9E89-52C609C1C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489478"/>
              </p:ext>
            </p:extLst>
          </p:nvPr>
        </p:nvGraphicFramePr>
        <p:xfrm>
          <a:off x="772628" y="5514897"/>
          <a:ext cx="4521668" cy="162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417">
                  <a:extLst>
                    <a:ext uri="{9D8B030D-6E8A-4147-A177-3AD203B41FA5}">
                      <a16:colId xmlns:a16="http://schemas.microsoft.com/office/drawing/2014/main" val="2213753631"/>
                    </a:ext>
                  </a:extLst>
                </a:gridCol>
                <a:gridCol w="1130417">
                  <a:extLst>
                    <a:ext uri="{9D8B030D-6E8A-4147-A177-3AD203B41FA5}">
                      <a16:colId xmlns:a16="http://schemas.microsoft.com/office/drawing/2014/main" val="2014049327"/>
                    </a:ext>
                  </a:extLst>
                </a:gridCol>
                <a:gridCol w="1130417">
                  <a:extLst>
                    <a:ext uri="{9D8B030D-6E8A-4147-A177-3AD203B41FA5}">
                      <a16:colId xmlns:a16="http://schemas.microsoft.com/office/drawing/2014/main" val="1250048612"/>
                    </a:ext>
                  </a:extLst>
                </a:gridCol>
                <a:gridCol w="1130417">
                  <a:extLst>
                    <a:ext uri="{9D8B030D-6E8A-4147-A177-3AD203B41FA5}">
                      <a16:colId xmlns:a16="http://schemas.microsoft.com/office/drawing/2014/main" val="3008272089"/>
                    </a:ext>
                  </a:extLst>
                </a:gridCol>
              </a:tblGrid>
              <a:tr h="334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Algorithm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Karate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Dolphin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Football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222103"/>
                  </a:ext>
                </a:extLst>
              </a:tr>
              <a:tr h="334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Async LPA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0.1951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0.0155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0.0272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755903"/>
                  </a:ext>
                </a:extLst>
              </a:tr>
              <a:tr h="334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Sync LPA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0.2081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0.0111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0.0188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51472"/>
                  </a:ext>
                </a:extLst>
              </a:tr>
              <a:tr h="6166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Sync LPA</a:t>
                      </a:r>
                    </a:p>
                    <a:p>
                      <a:pPr algn="ctr" latinLnBrk="1"/>
                      <a:r>
                        <a:rPr lang="en-US" altLang="ko-KR" sz="1600" b="0" dirty="0"/>
                        <a:t>with MIS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0.1253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0.0251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0.0210</a:t>
                      </a:r>
                      <a:endParaRPr lang="ko-KR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27313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268CC27-4AA8-A32C-4255-3BE0F68B4952}"/>
              </a:ext>
            </a:extLst>
          </p:cNvPr>
          <p:cNvSpPr txBox="1"/>
          <p:nvPr/>
        </p:nvSpPr>
        <p:spPr>
          <a:xfrm>
            <a:off x="137883" y="853720"/>
            <a:ext cx="2503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Benchmark dataset</a:t>
            </a:r>
            <a:endParaRPr lang="ko-KR" alt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A2CF3C-7B0F-0AA5-5C64-F4EFA9063CDD}"/>
              </a:ext>
            </a:extLst>
          </p:cNvPr>
          <p:cNvSpPr txBox="1"/>
          <p:nvPr/>
        </p:nvSpPr>
        <p:spPr>
          <a:xfrm>
            <a:off x="137883" y="2761353"/>
            <a:ext cx="5838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Accuracy Comparison: NMI Values by Algorithms</a:t>
            </a:r>
            <a:endParaRPr lang="ko-KR" alt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636DEA-D00C-BAFA-5DC6-440C5EDCFCEC}"/>
              </a:ext>
            </a:extLst>
          </p:cNvPr>
          <p:cNvSpPr txBox="1"/>
          <p:nvPr/>
        </p:nvSpPr>
        <p:spPr>
          <a:xfrm>
            <a:off x="127027" y="4989477"/>
            <a:ext cx="6535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2000" b="1" dirty="0"/>
              <a:t>Stability Comparison: Standard Deviation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19CA5C-6B7A-C490-E032-EB630F351DB3}"/>
              </a:ext>
            </a:extLst>
          </p:cNvPr>
          <p:cNvSpPr txBox="1"/>
          <p:nvPr/>
        </p:nvSpPr>
        <p:spPr>
          <a:xfrm>
            <a:off x="127028" y="7223730"/>
            <a:ext cx="6607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Execution Time (Without Multiprocessing)</a:t>
            </a:r>
            <a:endParaRPr lang="ko-KR" altLang="en-US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91C8D6-99A7-D8CA-FEB5-0D526D872858}"/>
              </a:ext>
            </a:extLst>
          </p:cNvPr>
          <p:cNvSpPr txBox="1"/>
          <p:nvPr/>
        </p:nvSpPr>
        <p:spPr>
          <a:xfrm>
            <a:off x="6554816" y="3585188"/>
            <a:ext cx="5653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LPA with MIS can </a:t>
            </a:r>
            <a:r>
              <a:rPr lang="en-US" altLang="ko-KR" sz="2000" b="1" dirty="0"/>
              <a:t>capture smaller cluster better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8DB47A-8C31-DE7D-FE59-90E8B522951C}"/>
              </a:ext>
            </a:extLst>
          </p:cNvPr>
          <p:cNvSpPr txBox="1"/>
          <p:nvPr/>
        </p:nvSpPr>
        <p:spPr>
          <a:xfrm>
            <a:off x="6162170" y="7372730"/>
            <a:ext cx="64574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Conclusion</a:t>
            </a:r>
            <a:r>
              <a:rPr lang="en-US" altLang="ko-KR" sz="2000" b="1" dirty="0"/>
              <a:t> 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LPA with MIS  </a:t>
            </a:r>
            <a:r>
              <a:rPr lang="en-US" altLang="ko-KR" sz="2000" b="1" dirty="0"/>
              <a:t>captures smaller clusters</a:t>
            </a:r>
            <a:r>
              <a:rPr lang="en-US" altLang="ko-KR" sz="2000" dirty="0"/>
              <a:t> </a:t>
            </a:r>
          </a:p>
          <a:p>
            <a:r>
              <a:rPr lang="en-US" altLang="ko-KR" sz="2000" dirty="0"/>
              <a:t>       than traditional LPA.</a:t>
            </a:r>
          </a:p>
          <a:p>
            <a:endParaRPr lang="en-US" altLang="ko-KR" sz="2000" dirty="0"/>
          </a:p>
          <a:p>
            <a:r>
              <a:rPr lang="en-US" altLang="ko-KR" sz="2000" dirty="0"/>
              <a:t> - It </a:t>
            </a:r>
            <a:r>
              <a:rPr lang="en-US" altLang="ko-KR" sz="2000" b="1" dirty="0"/>
              <a:t>mitigates the over-propagation problem</a:t>
            </a:r>
            <a:r>
              <a:rPr lang="en-US" altLang="ko-KR" sz="2000" dirty="0"/>
              <a:t>. </a:t>
            </a:r>
          </a:p>
          <a:p>
            <a:r>
              <a:rPr lang="en-US" altLang="ko-KR" sz="2000" dirty="0"/>
              <a:t>    This </a:t>
            </a:r>
            <a:r>
              <a:rPr lang="en-US" altLang="ko-KR" sz="2000" b="1" dirty="0"/>
              <a:t>improves accuracy and stability.</a:t>
            </a:r>
            <a:endParaRPr lang="en-US" altLang="ko-KR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BD4DB5-E035-45C4-3BF4-88ECC4A240CD}"/>
              </a:ext>
            </a:extLst>
          </p:cNvPr>
          <p:cNvSpPr txBox="1"/>
          <p:nvPr/>
        </p:nvSpPr>
        <p:spPr>
          <a:xfrm>
            <a:off x="137883" y="167010"/>
            <a:ext cx="4963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Experiment Results</a:t>
            </a:r>
            <a:endParaRPr lang="ko-KR" altLang="en-US" sz="2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5C825C-68F4-B19F-6FC2-139B54944E71}"/>
              </a:ext>
            </a:extLst>
          </p:cNvPr>
          <p:cNvSpPr txBox="1"/>
          <p:nvPr/>
        </p:nvSpPr>
        <p:spPr>
          <a:xfrm>
            <a:off x="6278282" y="201365"/>
            <a:ext cx="5109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Clustering Results</a:t>
            </a:r>
          </a:p>
        </p:txBody>
      </p:sp>
    </p:spTree>
    <p:extLst>
      <p:ext uri="{BB962C8B-B14F-4D97-AF65-F5344CB8AC3E}">
        <p14:creationId xmlns:p14="http://schemas.microsoft.com/office/powerpoint/2010/main" val="39432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701</TotalTime>
  <Words>350</Words>
  <Application>Microsoft Office PowerPoint</Application>
  <PresentationFormat>A3 용지(297x420mm)</PresentationFormat>
  <Paragraphs>110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Aptos</vt:lpstr>
      <vt:lpstr>Aptos Display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(학생) 이호준 (컴퓨터공학과)</dc:creator>
  <cp:lastModifiedBy>(학생) 이호준 (컴퓨터공학과)</cp:lastModifiedBy>
  <cp:revision>21</cp:revision>
  <dcterms:created xsi:type="dcterms:W3CDTF">2025-05-27T06:29:32Z</dcterms:created>
  <dcterms:modified xsi:type="dcterms:W3CDTF">2025-05-28T14:03:57Z</dcterms:modified>
</cp:coreProperties>
</file>